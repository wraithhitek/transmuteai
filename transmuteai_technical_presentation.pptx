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6B6D4"/>
                </a:solidFill>
              </a:defRPr>
            </a:pPr>
            <a:r>
              <a:t>TransmuteAI</a:t>
            </a:r>
          </a:p>
          <a:p>
            <a:pPr>
              <a:spcBef>
                <a:spcPts val="1200"/>
              </a:spcBef>
              <a:defRPr sz="2200">
                <a:solidFill>
                  <a:srgbClr val="F8FAFC"/>
                </a:solidFill>
              </a:defRPr>
            </a:pPr>
            <a:r>
              <a:t>Automated Multi-Modal Content Transformation with Cryptographic Provenance</a:t>
            </a:r>
          </a:p>
          <a:p>
            <a:pPr>
              <a:spcBef>
                <a:spcPts val="2000"/>
              </a:spcBef>
              <a:defRPr sz="1300">
                <a:solidFill>
                  <a:srgbClr val="94A3B8"/>
                </a:solidFill>
              </a:defRPr>
            </a:pPr>
            <a:r>
              <a:t>Technical Evaluation &amp; Architecture Briefing • Next.js 14 • FastAPI • Google Gemini • Blockchain Ledger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The Problem: Semantic Drift &amp; Privacy Leaks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3154680" cy="3931920"/>
          </a:xfrm>
          <a:prstGeom prst="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700" b="1">
                <a:solidFill>
                  <a:srgbClr val="EF4444"/>
                </a:solidFill>
              </a:defRPr>
            </a:pPr>
            <a:r>
              <a:t>Multi-Channel Hallucinations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Generating Docs, Slides, and Scripts independently causes models to output conflicting statistics and divergent recommendations across channels.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2011680"/>
            <a:ext cx="3154680" cy="3931920"/>
          </a:xfrm>
          <a:prstGeom prst="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Perimeter PII Exposure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Raw contracts and memos contain confidential customer emails, SSNs, and credit cards that leak into LLM prompts without perimeter sanitization.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2011680"/>
            <a:ext cx="3154680" cy="3931920"/>
          </a:xfrm>
          <a:prstGeom prst="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700" b="1">
                <a:solidFill>
                  <a:srgbClr val="A855F7"/>
                </a:solidFill>
              </a:defRPr>
            </a:pPr>
            <a:r>
              <a:t>Absence of Verifiable Trust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Enterprise deliverables lack cryptographic provenance. Stakeholders cannot prove whether an AI document was altered or authentically generated.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The Solution: Canonical Content Brief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▸  Two-Phase Architecture: Decouples cognitive synthesis from document rendering.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</a:defRPr>
            </a:pPr>
            <a:r>
              <a:t>▸  Deterministic Privacy Perimeter: Scans and redacts Emails, SSNs, Phones, and Cards before prompting LLM.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</a:defRPr>
            </a:pPr>
            <a:r>
              <a:t>▸  Strict Schema Enforcement: Pydantic v2 validation guarantees 100% schema integrity.</a:t>
            </a:r>
          </a:p>
          <a:p>
            <a:pPr>
              <a:spcBef>
                <a:spcPts val="1600"/>
              </a:spcBef>
              <a:defRPr sz="1400">
                <a:solidFill>
                  <a:srgbClr val="F8FAFC"/>
                </a:solidFill>
              </a:defRPr>
            </a:pPr>
            <a:r>
              <a:t>▸  Zero Semantic Drift: All downstream renderers consume the identical JSON representation.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4663440" cy="4206240"/>
          </a:xfrm>
          <a:prstGeom prst="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Canonical JSON Schema Architecture</a:t>
            </a:r>
          </a:p>
          <a:p>
            <a:pPr>
              <a:spcBef>
                <a:spcPts val="1000"/>
              </a:spcBef>
              <a:defRPr sz="1200">
                <a:solidFill>
                  <a:srgbClr val="93C5FD"/>
                </a:solidFill>
                <a:latin typeface="Consolas"/>
              </a:defRPr>
            </a:pPr>
            <a:r>
              <a:t>{</a:t>
            </a:r>
            <a:br/>
            <a:r>
              <a:t>  "brief_id": "brief_0123",</a:t>
            </a:r>
            <a:br/>
            <a:r>
              <a:t>  "video_package": { storyboard, srt },</a:t>
            </a:r>
            <a:br/>
            <a:r>
              <a:t>  "linkedin_post": { hook, bullets, cta },</a:t>
            </a:r>
            <a:br/>
            <a:r>
              <a:t>  "social_thread": [ tweet_1, tweet_2 ],</a:t>
            </a:r>
            <a:br/>
            <a:r>
              <a:t>  "advisory_document": { risk_matrix },</a:t>
            </a:r>
            <a:br/>
            <a:r>
              <a:t>  "infographic": { palette, quadrants },</a:t>
            </a:r>
            <a:br/>
            <a:r>
              <a:t>  "executive_summary": { findings },</a:t>
            </a:r>
            <a:br/>
            <a:r>
              <a:t>  "presentation_outline": [ slides 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Multi-Format Synthesis: 7 Specialized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4846320" cy="9601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1. Video Package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Full screenplay, scene cinematography directions, audio cues, b-roll, and .SRT broadcast subtitles.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926080"/>
            <a:ext cx="4846320" cy="9601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2. LinkedIn Post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Mobile-optimized thought leadership post with curiosity hooks, white space, bullet takeaways, and CTA.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023360"/>
            <a:ext cx="4846320" cy="9601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3. Twitter/X Thread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High-velocity numbered tweet sequence (1/N) structured for viral distribution and retention.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5120640"/>
            <a:ext cx="4846320" cy="9601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4. Strategic Advisory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Formal McKinsey-style advisory memo featuring quantitative Risk Matrices and 30-60-90 day Roadmaps.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4846320" cy="960120"/>
          </a:xfrm>
          <a:prstGeom prst="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5. Infographic Spec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Layout blueprint, color palette guidelines, hero stat quadrants, and chart visual directives.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926080"/>
            <a:ext cx="4846320" cy="960120"/>
          </a:xfrm>
          <a:prstGeom prst="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6. Executive Summary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Corporate executive briefing Word DOCX with structured tables, callouts, and embedded QR code.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023360"/>
            <a:ext cx="4846320" cy="960120"/>
          </a:xfrm>
          <a:prstGeom prst="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7. Presentation Deck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Widescreen 16:9 PowerPoint slide deck with dark executive theme and comprehensive speaker notes.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Cryptographic Trust, Scalability &amp; Free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3154680" cy="393192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Blockchain Provenance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SHA-256 fingerprinting of all inputs and outputs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Chained block ledger with previous_hash validation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Tamper-evident verification algorithms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Embedded dynamic verification QR codes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2011680"/>
            <a:ext cx="3154680" cy="3931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700" b="1">
                <a:solidFill>
                  <a:srgbClr val="3B82F6"/>
                </a:solidFill>
              </a:defRPr>
            </a:pPr>
            <a:r>
              <a:t>Scalable Execution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Celery + Redis distributed task queue for enterprise scale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Direct BackgroundTasks mode for serverless/lightweight hosting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SlowAPI client IP rate limiting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Async connection pooling with SQLAlchemy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2011680"/>
            <a:ext cx="3154680" cy="3931920"/>
          </a:xfrm>
          <a:prstGeom prst="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100% Free Cloud Hosting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Frontend: Vercel (Hobby Tier - $0)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Backend: Render.com / Koyeb Web Service ($0)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LLM: Google Gemini Free Tier via Google AI Studio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Database: Neon.tech Serverless Postgres ($0)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